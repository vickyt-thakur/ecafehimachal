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6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875520" y="-457200"/>
            <a:ext cx="2743200" cy="27432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789920" y="4389120"/>
            <a:ext cx="1828800" cy="1828800"/>
          </a:xfrm>
          <a:prstGeom prst="ellipse">
            <a:avLst/>
          </a:prstGeom>
          <a:solidFill>
            <a:srgbClr val="32B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82880" y="5852160"/>
            <a:ext cx="1371600" cy="1371600"/>
          </a:xfrm>
          <a:prstGeom prst="ellipse">
            <a:avLst/>
          </a:prstGeom>
          <a:solidFill>
            <a:srgbClr val="239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3558" y="640080"/>
            <a:ext cx="5641144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400" b="1" dirty="0">
                <a:solidFill>
                  <a:schemeClr val="bg1"/>
                </a:solidFill>
                <a:latin typeface="Aptos"/>
              </a:rPr>
              <a:t>   </a:t>
            </a:r>
          </a:p>
          <a:p>
            <a:pPr algn="l"/>
            <a:r>
              <a:rPr lang="en-US" sz="3400" b="1" dirty="0">
                <a:solidFill>
                  <a:schemeClr val="bg1"/>
                </a:solidFill>
                <a:latin typeface="Aptos"/>
              </a:rPr>
              <a:t>     </a:t>
            </a:r>
            <a:r>
              <a:rPr sz="3400" b="1" dirty="0">
                <a:solidFill>
                  <a:schemeClr val="bg1"/>
                </a:solidFill>
                <a:latin typeface="Aptos"/>
              </a:rPr>
              <a:t>E CAFE HIMACHAL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828800"/>
            <a:ext cx="3700115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dirty="0">
                <a:solidFill>
                  <a:srgbClr val="32B4D2"/>
                </a:solidFill>
                <a:latin typeface="Aptos"/>
              </a:rPr>
              <a:t>BUSINESS </a:t>
            </a:r>
            <a:r>
              <a:rPr lang="en-US" sz="3000" b="1" dirty="0">
                <a:solidFill>
                  <a:srgbClr val="32B4D2"/>
                </a:solidFill>
                <a:latin typeface="Aptos"/>
              </a:rPr>
              <a:t>PARTNER</a:t>
            </a:r>
            <a:endParaRPr sz="3000" b="1" dirty="0">
              <a:solidFill>
                <a:srgbClr val="32B4D2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2606040"/>
            <a:ext cx="8961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Aptos"/>
              </a:rPr>
              <a:t>Authorized Service Partner + Business Promotion Partner Program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794760"/>
            <a:ext cx="4754880" cy="6858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3959352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BUILD • PROMOTE • CONNECT • EARN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94360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C8DCEB"/>
                </a:solidFill>
                <a:latin typeface="Aptos"/>
              </a:rPr>
              <a:t>A scalable digital service network for Himachal Pradesh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909560" y="5192947"/>
            <a:ext cx="3840480" cy="8544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C2646"/>
                </a:solidFill>
                <a:latin typeface="Aptos"/>
              </a:rPr>
              <a:t>THE BIG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E7882"/>
                </a:solidFill>
                <a:latin typeface="Aptos"/>
              </a:rPr>
              <a:t>Create a strong digital service network across Himachal Pradesh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520440" cy="4297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73152" cy="4297680"/>
          </a:xfrm>
          <a:prstGeom prst="rect">
            <a:avLst/>
          </a:prstGeom>
          <a:solidFill>
            <a:srgbClr val="239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618488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0C2646"/>
                </a:solidFill>
                <a:latin typeface="Aptos"/>
              </a:rPr>
              <a:t>SERVICE 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233749"/>
            <a:ext cx="27501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>
                <a:solidFill>
                  <a:srgbClr val="2D3741"/>
                </a:solidFill>
                <a:latin typeface="Aptos"/>
              </a:rPr>
              <a:t>Build Village, Tehsil and District-level </a:t>
            </a:r>
            <a:endParaRPr lang="en-US" sz="1200" b="0" dirty="0">
              <a:solidFill>
                <a:srgbClr val="2D3741"/>
              </a:solidFill>
              <a:latin typeface="Aptos"/>
            </a:endParaRPr>
          </a:p>
          <a:p>
            <a:r>
              <a:rPr sz="1200" b="0" dirty="0">
                <a:solidFill>
                  <a:srgbClr val="2D3741"/>
                </a:solidFill>
                <a:latin typeface="Aptos"/>
              </a:rPr>
              <a:t>authorized partners who can represent</a:t>
            </a:r>
            <a:endParaRPr lang="en-US" sz="1200" b="0" dirty="0">
              <a:solidFill>
                <a:srgbClr val="2D3741"/>
              </a:solidFill>
              <a:latin typeface="Aptos"/>
            </a:endParaRPr>
          </a:p>
          <a:p>
            <a:r>
              <a:rPr sz="1200" b="0" dirty="0">
                <a:solidFill>
                  <a:srgbClr val="2D3741"/>
                </a:solidFill>
                <a:latin typeface="Aptos"/>
              </a:rPr>
              <a:t> the E CAFE HIMACHAL ecosystem.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17320"/>
            <a:ext cx="3520440" cy="4297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43400" y="1417320"/>
            <a:ext cx="73152" cy="4297680"/>
          </a:xfrm>
          <a:prstGeom prst="rect">
            <a:avLst/>
          </a:prstGeom>
          <a:solidFill>
            <a:srgbClr val="1F6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1618488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0C2646"/>
                </a:solidFill>
                <a:latin typeface="Aptos"/>
              </a:rPr>
              <a:t>PROMOTION NETWORK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130552"/>
            <a:ext cx="310142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1200" b="0" dirty="0">
                <a:solidFill>
                  <a:srgbClr val="2D3741"/>
                </a:solidFill>
                <a:latin typeface="Aptos"/>
              </a:rPr>
              <a:t> </a:t>
            </a:r>
            <a:r>
              <a:rPr sz="1200" b="0" dirty="0">
                <a:solidFill>
                  <a:srgbClr val="2D3741"/>
                </a:solidFill>
                <a:latin typeface="Aptos"/>
              </a:rPr>
              <a:t>Enable people to work part-time from home</a:t>
            </a:r>
            <a:endParaRPr lang="en-US" sz="1200" b="0" dirty="0">
              <a:solidFill>
                <a:srgbClr val="2D3741"/>
              </a:solidFill>
              <a:latin typeface="Aptos"/>
            </a:endParaRPr>
          </a:p>
          <a:p>
            <a:pPr algn="l"/>
            <a:r>
              <a:rPr sz="1200" b="0" dirty="0">
                <a:solidFill>
                  <a:srgbClr val="2D3741"/>
                </a:solidFill>
                <a:latin typeface="Aptos"/>
              </a:rPr>
              <a:t> using only their smartphone to promote</a:t>
            </a:r>
            <a:endParaRPr lang="en-US" sz="1200" b="0" dirty="0">
              <a:solidFill>
                <a:srgbClr val="2D3741"/>
              </a:solidFill>
              <a:latin typeface="Aptos"/>
            </a:endParaRPr>
          </a:p>
          <a:p>
            <a:pPr algn="l"/>
            <a:r>
              <a:rPr sz="1200" b="0" dirty="0">
                <a:solidFill>
                  <a:srgbClr val="2D3741"/>
                </a:solidFill>
                <a:latin typeface="Aptos"/>
              </a:rPr>
              <a:t> services and generate leads.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17320"/>
            <a:ext cx="3520440" cy="4297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46720" y="1417320"/>
            <a:ext cx="73152" cy="4297680"/>
          </a:xfrm>
          <a:prstGeom prst="rect">
            <a:avLst/>
          </a:prstGeom>
          <a:solidFill>
            <a:srgbClr val="F0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75320" y="1618488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0C2646"/>
                </a:solidFill>
                <a:latin typeface="Aptos"/>
              </a:rPr>
              <a:t>GROWTH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130552"/>
            <a:ext cx="316657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dirty="0">
                <a:solidFill>
                  <a:srgbClr val="2D3741"/>
                </a:solidFill>
                <a:latin typeface="Aptos"/>
              </a:rPr>
              <a:t>Core Team handles service delivery while</a:t>
            </a:r>
            <a:endParaRPr lang="en-US" sz="1200" b="0" dirty="0">
              <a:solidFill>
                <a:srgbClr val="2D3741"/>
              </a:solidFill>
              <a:latin typeface="Aptos"/>
            </a:endParaRPr>
          </a:p>
          <a:p>
            <a:pPr algn="l"/>
            <a:r>
              <a:rPr sz="1200" b="0" dirty="0">
                <a:solidFill>
                  <a:srgbClr val="2D3741"/>
                </a:solidFill>
                <a:latin typeface="Aptos"/>
              </a:rPr>
              <a:t> partners focus on local reach,</a:t>
            </a:r>
            <a:endParaRPr lang="en-US" sz="1200" b="0" dirty="0">
              <a:solidFill>
                <a:srgbClr val="2D3741"/>
              </a:solidFill>
              <a:latin typeface="Aptos"/>
            </a:endParaRPr>
          </a:p>
          <a:p>
            <a:pPr algn="l"/>
            <a:r>
              <a:rPr sz="1200" b="0" dirty="0">
                <a:solidFill>
                  <a:srgbClr val="2D3741"/>
                </a:solidFill>
                <a:latin typeface="Aptos"/>
              </a:rPr>
              <a:t> customer connections and business growth.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29800" y="123971"/>
            <a:ext cx="2057400" cy="4577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C2646"/>
                </a:solidFill>
                <a:latin typeface="Aptos"/>
              </a:rPr>
              <a:t>TWO POWERFUL BUSINESS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E7882"/>
                </a:solidFill>
                <a:latin typeface="Aptos"/>
              </a:rPr>
              <a:t>One brand. Two growth engines.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257800" cy="4480560"/>
          </a:xfrm>
          <a:prstGeom prst="roundRect">
            <a:avLst/>
          </a:prstGeom>
          <a:solidFill>
            <a:srgbClr val="0C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1783080"/>
            <a:ext cx="4572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1. AUTHORIZED SERVICE PARTNER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383780"/>
            <a:ext cx="4998228" cy="1708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dirty="0">
                <a:solidFill>
                  <a:srgbClr val="FFFFFF"/>
                </a:solidFill>
                <a:latin typeface="Aptos"/>
              </a:rPr>
              <a:t>Village • Tehsil • District
Partners represent the brand and work within the approved</a:t>
            </a:r>
            <a:endParaRPr lang="en-US" sz="1500" b="0" dirty="0">
              <a:solidFill>
                <a:srgbClr val="FFFFFF"/>
              </a:solidFill>
              <a:latin typeface="Aptos"/>
            </a:endParaRPr>
          </a:p>
          <a:p>
            <a:pPr algn="l"/>
            <a:r>
              <a:rPr sz="1500" b="0" dirty="0">
                <a:solidFill>
                  <a:srgbClr val="FFFFFF"/>
                </a:solidFill>
                <a:latin typeface="Aptos"/>
              </a:rPr>
              <a:t> service ecosystem.
Ideal for people who want a structured local business</a:t>
            </a:r>
            <a:endParaRPr lang="en-US" sz="1500" b="0" dirty="0">
              <a:solidFill>
                <a:srgbClr val="FFFFFF"/>
              </a:solidFill>
              <a:latin typeface="Aptos"/>
            </a:endParaRPr>
          </a:p>
          <a:p>
            <a:pPr algn="l"/>
            <a:r>
              <a:rPr sz="1500" b="0" dirty="0">
                <a:solidFill>
                  <a:srgbClr val="FFFFFF"/>
                </a:solidFill>
                <a:latin typeface="Aptos"/>
              </a:rPr>
              <a:t> connection.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257800" cy="4480560"/>
          </a:xfrm>
          <a:prstGeom prst="roundRect">
            <a:avLst/>
          </a:prstGeom>
          <a:solidFill>
            <a:srgbClr val="1F6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37960" y="1783080"/>
            <a:ext cx="4572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2. BUSINESS PROMOTION PARTNER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514600"/>
            <a:ext cx="4875181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dirty="0">
                <a:solidFill>
                  <a:srgbClr val="FFFFFF"/>
                </a:solidFill>
                <a:latin typeface="Aptos"/>
              </a:rPr>
              <a:t>Part-Time • Work From Home • Phone-Based
Promote E CAFE HIMACHAL services, connect interested</a:t>
            </a:r>
            <a:endParaRPr lang="en-US" sz="1500" b="0" dirty="0">
              <a:solidFill>
                <a:srgbClr val="FFFFFF"/>
              </a:solidFill>
              <a:latin typeface="Aptos"/>
            </a:endParaRPr>
          </a:p>
          <a:p>
            <a:pPr algn="l"/>
            <a:r>
              <a:rPr sz="1500" b="0" dirty="0">
                <a:solidFill>
                  <a:srgbClr val="FFFFFF"/>
                </a:solidFill>
                <a:latin typeface="Aptos"/>
              </a:rPr>
              <a:t> customers and earn commission on successful sales.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29800" y="123971"/>
            <a:ext cx="2057400" cy="4577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C2646"/>
                </a:solidFill>
                <a:latin typeface="Aptos"/>
              </a:rPr>
              <a:t>AUTHORIZED SERVICE PARTNER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dirty="0">
                <a:solidFill>
                  <a:srgbClr val="6E7882"/>
                </a:solidFill>
                <a:latin typeface="Aptos"/>
              </a:rPr>
              <a:t>Clear entry levels for local expansion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3383280" cy="4480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83280" cy="777240"/>
          </a:xfrm>
          <a:prstGeom prst="roundRect">
            <a:avLst/>
          </a:prstGeom>
          <a:solidFill>
            <a:srgbClr val="239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71907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VILLAGE PARTNER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60320"/>
            <a:ext cx="2926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0C2646"/>
                </a:solidFill>
                <a:latin typeface="Aptos"/>
              </a:rPr>
              <a:t>₹499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4612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E7882"/>
                </a:solidFill>
                <a:latin typeface="Aptos"/>
              </a:rPr>
              <a:t>Village / Local Area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977639"/>
            <a:ext cx="274320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D3741"/>
                </a:solidFill>
                <a:latin typeface="Aptos"/>
              </a:rPr>
              <a:t>• Partner identity
• Training &amp; guidance
• Marketing support
• WhatsApp support
• Available service ecosystem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508760"/>
            <a:ext cx="3383280" cy="4480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26280" y="1508760"/>
            <a:ext cx="3383280" cy="777240"/>
          </a:xfrm>
          <a:prstGeom prst="roundRect">
            <a:avLst/>
          </a:prstGeom>
          <a:solidFill>
            <a:srgbClr val="1F6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171907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TEHSIL PARTNER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560320"/>
            <a:ext cx="2926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0C2646"/>
                </a:solidFill>
                <a:latin typeface="Aptos"/>
              </a:rPr>
              <a:t>₹999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324612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E7882"/>
                </a:solidFill>
                <a:latin typeface="Aptos"/>
              </a:rPr>
              <a:t>Tehsil Level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977639"/>
            <a:ext cx="274320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D3741"/>
                </a:solidFill>
                <a:latin typeface="Aptos"/>
              </a:rPr>
              <a:t>• Partner identity
• Training &amp; guidance
• Marketing support
• WhatsApp support
• Available service ecosystem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508760"/>
            <a:ext cx="3383280" cy="4480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321040" y="1508760"/>
            <a:ext cx="3383280" cy="777240"/>
          </a:xfrm>
          <a:prstGeom prst="roundRect">
            <a:avLst/>
          </a:prstGeom>
          <a:solidFill>
            <a:srgbClr val="F0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58200" y="171907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DISTRICT PARTNER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560320"/>
            <a:ext cx="2926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0C2646"/>
                </a:solidFill>
                <a:latin typeface="Aptos"/>
              </a:rPr>
              <a:t>₹1,999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324612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E7882"/>
                </a:solidFill>
                <a:latin typeface="Aptos"/>
              </a:rPr>
              <a:t>District Level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3977639"/>
            <a:ext cx="274320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D3741"/>
                </a:solidFill>
                <a:latin typeface="Aptos"/>
              </a:rPr>
              <a:t>• Partner identity
• Training &amp; guidance
• Marketing support
• WhatsApp support
• Available service ecosystem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29800" y="123971"/>
            <a:ext cx="2057400" cy="4577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6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EARN WITH E CAFE HIMACHAL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32B4D2"/>
                </a:solidFill>
                <a:latin typeface="Aptos"/>
              </a:rPr>
              <a:t>BUSINESS PROMOTION PARTNER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916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ptos"/>
              </a:rPr>
              <a:t>A simple part-time opportunity: use your phone to help people discover our services.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063240"/>
            <a:ext cx="2514600" cy="1965960"/>
          </a:xfrm>
          <a:prstGeom prst="roundRect">
            <a:avLst/>
          </a:prstGeom>
          <a:solidFill>
            <a:srgbClr val="1F6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3429000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PHONE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4069080"/>
            <a:ext cx="2148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ptos"/>
              </a:rPr>
              <a:t>Work from anywhere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3063240"/>
            <a:ext cx="2514600" cy="1965960"/>
          </a:xfrm>
          <a:prstGeom prst="roundRect">
            <a:avLst/>
          </a:prstGeom>
          <a:solidFill>
            <a:srgbClr val="1F6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11879" y="3429000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PROMOTE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4069080"/>
            <a:ext cx="2148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ptos"/>
              </a:rPr>
              <a:t>Share approved content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3063240"/>
            <a:ext cx="2514600" cy="1965960"/>
          </a:xfrm>
          <a:prstGeom prst="roundRect">
            <a:avLst/>
          </a:prstGeom>
          <a:solidFill>
            <a:srgbClr val="1F6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3429000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CONNECT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069080"/>
            <a:ext cx="2148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ptos"/>
              </a:rPr>
              <a:t>Send interested customers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3063240"/>
            <a:ext cx="2514600" cy="1965960"/>
          </a:xfrm>
          <a:prstGeom prst="roundRect">
            <a:avLst/>
          </a:prstGeom>
          <a:solidFill>
            <a:srgbClr val="239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81160" y="3429000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EARN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4069080"/>
            <a:ext cx="2148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ptos"/>
              </a:rPr>
              <a:t>Commission on successful sales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29800" y="123971"/>
            <a:ext cx="2057400" cy="4577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C2646"/>
                </a:solidFill>
                <a:latin typeface="Aptos"/>
              </a:rPr>
              <a:t>WHO CAN BECOME A PROMOTION PARTNER?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E7882"/>
                </a:solidFill>
                <a:latin typeface="Aptos"/>
              </a:rPr>
              <a:t>Designed for flexible part-time participation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342900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73152" cy="1691640"/>
          </a:xfrm>
          <a:prstGeom prst="rect">
            <a:avLst/>
          </a:prstGeom>
          <a:solidFill>
            <a:srgbClr val="239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664208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0C2646"/>
                </a:solidFill>
                <a:latin typeface="Aptos"/>
              </a:rPr>
              <a:t>Students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76272"/>
            <a:ext cx="3017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D3741"/>
                </a:solidFill>
                <a:latin typeface="Aptos"/>
              </a:rPr>
              <a:t>Promote in free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463040"/>
            <a:ext cx="342900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34840" y="1463040"/>
            <a:ext cx="73152" cy="1691640"/>
          </a:xfrm>
          <a:prstGeom prst="rect">
            <a:avLst/>
          </a:prstGeom>
          <a:solidFill>
            <a:srgbClr val="1F6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1664208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0C2646"/>
                </a:solidFill>
                <a:latin typeface="Aptos"/>
              </a:rPr>
              <a:t>Housewives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76272"/>
            <a:ext cx="3017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D3741"/>
                </a:solidFill>
                <a:latin typeface="Aptos"/>
              </a:rPr>
              <a:t>Work from home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463040"/>
            <a:ext cx="342900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0" y="1463040"/>
            <a:ext cx="73152" cy="1691640"/>
          </a:xfrm>
          <a:prstGeom prst="rect">
            <a:avLst/>
          </a:prstGeom>
          <a:solidFill>
            <a:srgbClr val="F0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58200" y="1664208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0C2646"/>
                </a:solidFill>
                <a:latin typeface="Aptos"/>
              </a:rPr>
              <a:t>Job Seekers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176272"/>
            <a:ext cx="3017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D3741"/>
                </a:solidFill>
                <a:latin typeface="Aptos"/>
              </a:rPr>
              <a:t>Build communication &amp; sales experience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11880"/>
            <a:ext cx="342900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3611880"/>
            <a:ext cx="73152" cy="1691640"/>
          </a:xfrm>
          <a:prstGeom prst="rect">
            <a:avLst/>
          </a:prstGeom>
          <a:solidFill>
            <a:srgbClr val="32B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3813048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0C2646"/>
                </a:solidFill>
                <a:latin typeface="Aptos"/>
              </a:rPr>
              <a:t>Local Youth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325112"/>
            <a:ext cx="3017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D3741"/>
                </a:solidFill>
                <a:latin typeface="Aptos"/>
              </a:rPr>
              <a:t>Earn through local promotion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3611880"/>
            <a:ext cx="342900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434840" y="3611880"/>
            <a:ext cx="73152" cy="1691640"/>
          </a:xfrm>
          <a:prstGeom prst="rect">
            <a:avLst/>
          </a:prstGeom>
          <a:solidFill>
            <a:srgbClr val="CD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63440" y="3813048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0C2646"/>
                </a:solidFill>
                <a:latin typeface="Aptos"/>
              </a:rPr>
              <a:t>Existing Businesses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325112"/>
            <a:ext cx="3017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D3741"/>
                </a:solidFill>
                <a:latin typeface="Aptos"/>
              </a:rPr>
              <a:t>Generate additional leads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29800" y="123971"/>
            <a:ext cx="2057400" cy="4577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C2646"/>
                </a:solidFill>
                <a:latin typeface="Aptos"/>
              </a:rPr>
              <a:t>THE 30–60 MINUTE DAILY 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E7882"/>
                </a:solidFill>
                <a:latin typeface="Aptos"/>
              </a:rPr>
              <a:t>Simple actions. Consistent reach.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685800" cy="685800"/>
          </a:xfrm>
          <a:prstGeom prst="roundRect">
            <a:avLst/>
          </a:prstGeom>
          <a:solidFill>
            <a:srgbClr val="1F6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81328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344168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C2646"/>
                </a:solidFill>
                <a:latin typeface="Aptos"/>
              </a:rPr>
              <a:t>GET READY CONTENT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1344168"/>
            <a:ext cx="6492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D3741"/>
                </a:solidFill>
                <a:latin typeface="Aptos"/>
              </a:rPr>
              <a:t>Receive posters, videos, service updates and ready-made messages.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86000"/>
            <a:ext cx="685800" cy="685800"/>
          </a:xfrm>
          <a:prstGeom prst="roundRect">
            <a:avLst/>
          </a:prstGeom>
          <a:solidFill>
            <a:srgbClr val="1F6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441448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304288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C2646"/>
                </a:solidFill>
                <a:latin typeface="Aptos"/>
              </a:rPr>
              <a:t>SHARE SMARTLY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304288"/>
            <a:ext cx="6492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D3741"/>
                </a:solidFill>
                <a:latin typeface="Aptos"/>
              </a:rPr>
              <a:t>Use WhatsApp Status, Facebook, Instagram and relevant local groups.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46120"/>
            <a:ext cx="685800" cy="685800"/>
          </a:xfrm>
          <a:prstGeom prst="roundRect">
            <a:avLst/>
          </a:prstGeom>
          <a:solidFill>
            <a:srgbClr val="1F6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401568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264408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C2646"/>
                </a:solidFill>
                <a:latin typeface="Aptos"/>
              </a:rPr>
              <a:t>FIND INTERESTED PEOPLE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264408"/>
            <a:ext cx="6492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D3741"/>
                </a:solidFill>
                <a:latin typeface="Aptos"/>
              </a:rPr>
              <a:t>Focus on people who genuinely need the service. Avoid spam.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06240"/>
            <a:ext cx="685800" cy="685800"/>
          </a:xfrm>
          <a:prstGeom prst="roundRect">
            <a:avLst/>
          </a:prstGeom>
          <a:solidFill>
            <a:srgbClr val="1F6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4361688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224528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C2646"/>
                </a:solidFill>
                <a:latin typeface="Aptos"/>
              </a:rPr>
              <a:t>CONNECT TO CORE TEAM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224528"/>
            <a:ext cx="6492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D3741"/>
                </a:solidFill>
                <a:latin typeface="Aptos"/>
              </a:rPr>
              <a:t>Share the lead through the approved process.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166360"/>
            <a:ext cx="685800" cy="685800"/>
          </a:xfrm>
          <a:prstGeom prst="roundRect">
            <a:avLst/>
          </a:prstGeom>
          <a:solidFill>
            <a:srgbClr val="1F6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5321808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184648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C2646"/>
                </a:solidFill>
                <a:latin typeface="Aptos"/>
              </a:rPr>
              <a:t>TRACK RESULTS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5184648"/>
            <a:ext cx="6492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D3741"/>
                </a:solidFill>
                <a:latin typeface="Aptos"/>
              </a:rPr>
              <a:t>Successful service completion becomes the basis for commission.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29800" y="123971"/>
            <a:ext cx="2057400" cy="4577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C2646"/>
                </a:solidFill>
                <a:latin typeface="Aptos"/>
              </a:rPr>
              <a:t>HOW THE BUSINESS FLOW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E7882"/>
                </a:solidFill>
                <a:latin typeface="Aptos"/>
              </a:rPr>
              <a:t>A clear lead-to-commission journey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2057400"/>
            <a:ext cx="1691640" cy="2286000"/>
          </a:xfrm>
          <a:prstGeom prst="roundRect">
            <a:avLst/>
          </a:prstGeom>
          <a:solidFill>
            <a:srgbClr val="1F6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423160"/>
            <a:ext cx="1508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PROMOTE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5568" y="3246120"/>
            <a:ext cx="1494320" cy="3847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 dirty="0">
                <a:solidFill>
                  <a:srgbClr val="FFFFFF"/>
                </a:solidFill>
                <a:latin typeface="Aptos"/>
              </a:rPr>
              <a:t>Partner shares approved </a:t>
            </a:r>
            <a:endParaRPr lang="en-US" sz="950" b="0" dirty="0">
              <a:solidFill>
                <a:srgbClr val="FFFFFF"/>
              </a:solidFill>
              <a:latin typeface="Aptos"/>
            </a:endParaRPr>
          </a:p>
          <a:p>
            <a:pPr algn="ctr"/>
            <a:r>
              <a:rPr sz="950" b="0" dirty="0">
                <a:solidFill>
                  <a:srgbClr val="FFFFFF"/>
                </a:solidFill>
                <a:latin typeface="Aptos"/>
              </a:rPr>
              <a:t>content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292608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C2646"/>
                </a:solidFill>
                <a:latin typeface="Aptos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1720" y="2057400"/>
            <a:ext cx="1691640" cy="2286000"/>
          </a:xfrm>
          <a:prstGeom prst="roundRect">
            <a:avLst/>
          </a:prstGeom>
          <a:solidFill>
            <a:srgbClr val="32B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423160" y="2423160"/>
            <a:ext cx="1508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INTEREST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41448" y="3246120"/>
            <a:ext cx="1463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Customer asks for a 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92608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C2646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2057400"/>
            <a:ext cx="1691640" cy="2286000"/>
          </a:xfrm>
          <a:prstGeom prst="roundRect">
            <a:avLst/>
          </a:prstGeom>
          <a:solidFill>
            <a:srgbClr val="239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43400" y="2423160"/>
            <a:ext cx="1508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CONNECT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6393" y="3246120"/>
            <a:ext cx="1553630" cy="3847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 dirty="0">
                <a:solidFill>
                  <a:srgbClr val="FFFFFF"/>
                </a:solidFill>
                <a:latin typeface="Aptos"/>
              </a:rPr>
              <a:t>Partner submits customer</a:t>
            </a:r>
            <a:endParaRPr lang="en-US" sz="950" b="0" dirty="0">
              <a:solidFill>
                <a:srgbClr val="FFFFFF"/>
              </a:solidFill>
              <a:latin typeface="Aptos"/>
            </a:endParaRPr>
          </a:p>
          <a:p>
            <a:pPr algn="ctr"/>
            <a:r>
              <a:rPr sz="950" b="0" dirty="0">
                <a:solidFill>
                  <a:srgbClr val="FFFFFF"/>
                </a:solidFill>
                <a:latin typeface="Aptos"/>
              </a:rPr>
              <a:t> lead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92608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C2646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057400"/>
            <a:ext cx="1691640" cy="2286000"/>
          </a:xfrm>
          <a:prstGeom prst="roundRect">
            <a:avLst/>
          </a:prstGeom>
          <a:solidFill>
            <a:srgbClr val="F0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63640" y="2423160"/>
            <a:ext cx="1508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CORE TEAM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5067" y="3246120"/>
            <a:ext cx="1516762" cy="3847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 dirty="0">
                <a:solidFill>
                  <a:srgbClr val="FFFFFF"/>
                </a:solidFill>
                <a:latin typeface="Aptos"/>
              </a:rPr>
              <a:t>Team handles the service</a:t>
            </a:r>
            <a:endParaRPr lang="en-US" sz="950" b="0" dirty="0">
              <a:solidFill>
                <a:srgbClr val="FFFFFF"/>
              </a:solidFill>
              <a:latin typeface="Aptos"/>
            </a:endParaRPr>
          </a:p>
          <a:p>
            <a:pPr algn="ctr"/>
            <a:r>
              <a:rPr sz="950" b="0" dirty="0">
                <a:solidFill>
                  <a:srgbClr val="FFFFFF"/>
                </a:solidFill>
                <a:latin typeface="Aptos"/>
              </a:rPr>
              <a:t> process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292608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C2646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2057400"/>
            <a:ext cx="1691640" cy="2286000"/>
          </a:xfrm>
          <a:prstGeom prst="roundRect">
            <a:avLst/>
          </a:prstGeom>
          <a:solidFill>
            <a:srgbClr val="CD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83879" y="2423160"/>
            <a:ext cx="1508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SUCCESS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0002" y="3246120"/>
            <a:ext cx="1627370" cy="3847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 dirty="0">
                <a:solidFill>
                  <a:srgbClr val="FFFFFF"/>
                </a:solidFill>
                <a:latin typeface="Aptos"/>
              </a:rPr>
              <a:t>Service/sale is successfully</a:t>
            </a:r>
            <a:endParaRPr lang="en-US" sz="950" b="0" dirty="0">
              <a:solidFill>
                <a:srgbClr val="FFFFFF"/>
              </a:solidFill>
              <a:latin typeface="Aptos"/>
            </a:endParaRPr>
          </a:p>
          <a:p>
            <a:pPr algn="ctr"/>
            <a:r>
              <a:rPr sz="950" b="0" dirty="0">
                <a:solidFill>
                  <a:srgbClr val="FFFFFF"/>
                </a:solidFill>
                <a:latin typeface="Aptos"/>
              </a:rPr>
              <a:t> completed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292608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C2646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12680" y="2057400"/>
            <a:ext cx="1691640" cy="2286000"/>
          </a:xfrm>
          <a:prstGeom prst="roundRect">
            <a:avLst/>
          </a:prstGeom>
          <a:solidFill>
            <a:srgbClr val="0C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104119" y="2423160"/>
            <a:ext cx="1508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COMMISSION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76122" y="3246120"/>
            <a:ext cx="1755610" cy="3847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 dirty="0">
                <a:solidFill>
                  <a:srgbClr val="FFFFFF"/>
                </a:solidFill>
                <a:latin typeface="Aptos"/>
              </a:rPr>
              <a:t>Partner earns as per approved</a:t>
            </a:r>
            <a:endParaRPr lang="en-US" sz="950" b="0" dirty="0">
              <a:solidFill>
                <a:srgbClr val="FFFFFF"/>
              </a:solidFill>
              <a:latin typeface="Aptos"/>
            </a:endParaRPr>
          </a:p>
          <a:p>
            <a:pPr algn="ctr"/>
            <a:r>
              <a:rPr sz="950" b="0" dirty="0">
                <a:solidFill>
                  <a:srgbClr val="FFFFFF"/>
                </a:solidFill>
                <a:latin typeface="Aptos"/>
              </a:rPr>
              <a:t> policy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29800" y="123971"/>
            <a:ext cx="2057400" cy="4577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C2646"/>
                </a:solidFill>
                <a:latin typeface="Aptos"/>
              </a:rPr>
              <a:t>COMMISSION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E7882"/>
                </a:solidFill>
                <a:latin typeface="Aptos"/>
              </a:rPr>
              <a:t>Transparent and performance-based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120640" cy="4389120"/>
          </a:xfrm>
          <a:prstGeom prst="roundRect">
            <a:avLst/>
          </a:prstGeom>
          <a:solidFill>
            <a:srgbClr val="0C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874519"/>
            <a:ext cx="4389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32B4D2"/>
                </a:solidFill>
                <a:latin typeface="Aptos"/>
              </a:rPr>
              <a:t>THE GOLDEN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88920"/>
            <a:ext cx="4389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NO SUCCESSFUL SALE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383280"/>
            <a:ext cx="4389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= NO COMMISSION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120640" cy="4389120"/>
          </a:xfrm>
          <a:prstGeom prst="roundRect">
            <a:avLst/>
          </a:prstGeom>
          <a:solidFill>
            <a:srgbClr val="239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1874519"/>
            <a:ext cx="4389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THE REWARD RULE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788920"/>
            <a:ext cx="4389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SUCCESSFUL SALE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383280"/>
            <a:ext cx="4389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= COMMISSION EARNED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0807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E7882"/>
                </a:solidFill>
                <a:latin typeface="Aptos"/>
              </a:rPr>
              <a:t>Commission rates can be defined service-wise and communicated clearly to every partner.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29800" y="123971"/>
            <a:ext cx="2057400" cy="4577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C2646"/>
                </a:solidFill>
                <a:latin typeface="Aptos"/>
              </a:rPr>
              <a:t>MAKE IT EXCITING: LEVEL-UP &amp; REWARDS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E7882"/>
                </a:solidFill>
                <a:latin typeface="Aptos"/>
              </a:rPr>
              <a:t>Performance should feel like progress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74519"/>
            <a:ext cx="2057400" cy="2834640"/>
          </a:xfrm>
          <a:prstGeom prst="roundRect">
            <a:avLst/>
          </a:prstGeom>
          <a:solidFill>
            <a:srgbClr val="6E7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423160"/>
            <a:ext cx="1783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STARTER PROMOTER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1783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First successful sale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07208" y="1874519"/>
            <a:ext cx="2057400" cy="2834640"/>
          </a:xfrm>
          <a:prstGeom prst="roundRect">
            <a:avLst/>
          </a:prstGeom>
          <a:solidFill>
            <a:srgbClr val="1F6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44368" y="2423160"/>
            <a:ext cx="1783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ACTIVE PROMOTER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44368" y="3657600"/>
            <a:ext cx="1783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Regular activity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11496" y="1874519"/>
            <a:ext cx="2057400" cy="2834640"/>
          </a:xfrm>
          <a:prstGeom prst="roundRect">
            <a:avLst/>
          </a:prstGeom>
          <a:solidFill>
            <a:srgbClr val="239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48656" y="2423160"/>
            <a:ext cx="1783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BUSINESS PROMOTER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48656" y="3657600"/>
            <a:ext cx="1783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Strong sales performance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15784" y="1874519"/>
            <a:ext cx="2057400" cy="2834640"/>
          </a:xfrm>
          <a:prstGeom prst="roundRect">
            <a:avLst/>
          </a:prstGeom>
          <a:solidFill>
            <a:srgbClr val="F0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52944" y="2423160"/>
            <a:ext cx="1783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STAR PARTNER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52944" y="3657600"/>
            <a:ext cx="1783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Top performer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20072" y="1874519"/>
            <a:ext cx="2057400" cy="2834640"/>
          </a:xfrm>
          <a:prstGeom prst="roundRect">
            <a:avLst/>
          </a:prstGeom>
          <a:solidFill>
            <a:srgbClr val="CD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57232" y="2423160"/>
            <a:ext cx="1783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E CAFE CHAMPION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57232" y="3657600"/>
            <a:ext cx="1783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Outstanding contributor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34924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C2646"/>
                </a:solidFill>
                <a:latin typeface="Aptos"/>
              </a:rPr>
              <a:t>Rewards can include certificates, recognition, special campaigns, bonuses and priority support.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29800" y="123971"/>
            <a:ext cx="2057400" cy="45773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C2646"/>
                </a:solidFill>
                <a:latin typeface="Aptos"/>
              </a:rPr>
              <a:t>WHAT E CAFE HIMACHAL PROVIDES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E7882"/>
                </a:solidFill>
                <a:latin typeface="Aptos"/>
              </a:rPr>
              <a:t>Partners should never feel they are working alone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42900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73152" cy="1691640"/>
          </a:xfrm>
          <a:prstGeom prst="rect">
            <a:avLst/>
          </a:prstGeom>
          <a:solidFill>
            <a:srgbClr val="1F6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618488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0C2646"/>
                </a:solidFill>
                <a:latin typeface="Aptos"/>
              </a:rPr>
              <a:t>READY POSTERS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30552"/>
            <a:ext cx="3017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D3741"/>
                </a:solidFill>
                <a:latin typeface="Aptos"/>
              </a:rPr>
              <a:t>Easy-to-share promotional designs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417320"/>
            <a:ext cx="342900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34840" y="1417320"/>
            <a:ext cx="73152" cy="1691640"/>
          </a:xfrm>
          <a:prstGeom prst="rect">
            <a:avLst/>
          </a:prstGeom>
          <a:solidFill>
            <a:srgbClr val="239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1618488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0C2646"/>
                </a:solidFill>
                <a:latin typeface="Aptos"/>
              </a:rPr>
              <a:t>VIDEOS &amp; STATUS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74325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dirty="0">
                <a:solidFill>
                  <a:srgbClr val="2D3741"/>
                </a:solidFill>
                <a:latin typeface="Aptos"/>
              </a:rPr>
              <a:t>Short content for WhatsApp and social</a:t>
            </a:r>
            <a:endParaRPr lang="en-US" sz="1200" b="0" dirty="0">
              <a:solidFill>
                <a:srgbClr val="2D3741"/>
              </a:solidFill>
              <a:latin typeface="Aptos"/>
            </a:endParaRPr>
          </a:p>
          <a:p>
            <a:pPr algn="l"/>
            <a:r>
              <a:rPr sz="1200" b="0" dirty="0">
                <a:solidFill>
                  <a:srgbClr val="2D3741"/>
                </a:solidFill>
                <a:latin typeface="Aptos"/>
              </a:rPr>
              <a:t> media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417320"/>
            <a:ext cx="342900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0" y="1417320"/>
            <a:ext cx="73152" cy="1691640"/>
          </a:xfrm>
          <a:prstGeom prst="rect">
            <a:avLst/>
          </a:prstGeom>
          <a:solidFill>
            <a:srgbClr val="F0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58200" y="1618488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0C2646"/>
                </a:solidFill>
                <a:latin typeface="Aptos"/>
              </a:rPr>
              <a:t>SERVICE UPDATES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130552"/>
            <a:ext cx="258154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dirty="0">
                <a:solidFill>
                  <a:srgbClr val="2D3741"/>
                </a:solidFill>
                <a:latin typeface="Aptos"/>
              </a:rPr>
              <a:t>Current information about available </a:t>
            </a:r>
            <a:endParaRPr lang="en-US" sz="1200" b="0" dirty="0">
              <a:solidFill>
                <a:srgbClr val="2D3741"/>
              </a:solidFill>
              <a:latin typeface="Aptos"/>
            </a:endParaRPr>
          </a:p>
          <a:p>
            <a:pPr algn="l"/>
            <a:r>
              <a:rPr sz="1200" b="0" dirty="0">
                <a:solidFill>
                  <a:srgbClr val="2D3741"/>
                </a:solidFill>
                <a:latin typeface="Aptos"/>
              </a:rPr>
              <a:t>campaigns/services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566160"/>
            <a:ext cx="342900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3566160"/>
            <a:ext cx="73152" cy="1691640"/>
          </a:xfrm>
          <a:prstGeom prst="rect">
            <a:avLst/>
          </a:prstGeom>
          <a:solidFill>
            <a:srgbClr val="32B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3767328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0C2646"/>
                </a:solidFill>
                <a:latin typeface="Aptos"/>
              </a:rPr>
              <a:t>WHATSAPP 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279392"/>
            <a:ext cx="3017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D3741"/>
                </a:solidFill>
                <a:latin typeface="Aptos"/>
              </a:rPr>
              <a:t>Fast communication channel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3566160"/>
            <a:ext cx="342900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434840" y="3566160"/>
            <a:ext cx="73152" cy="1691640"/>
          </a:xfrm>
          <a:prstGeom prst="rect">
            <a:avLst/>
          </a:prstGeom>
          <a:solidFill>
            <a:srgbClr val="0C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63440" y="3767328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0C2646"/>
                </a:solidFill>
                <a:latin typeface="Aptos"/>
              </a:rPr>
              <a:t>TRAINING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279392"/>
            <a:ext cx="282910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dirty="0">
                <a:solidFill>
                  <a:srgbClr val="2D3741"/>
                </a:solidFill>
                <a:latin typeface="Aptos"/>
              </a:rPr>
              <a:t>Simple guidance on promotion and lead</a:t>
            </a:r>
            <a:endParaRPr lang="en-US" sz="1200" b="0" dirty="0">
              <a:solidFill>
                <a:srgbClr val="2D3741"/>
              </a:solidFill>
              <a:latin typeface="Aptos"/>
            </a:endParaRPr>
          </a:p>
          <a:p>
            <a:pPr algn="l"/>
            <a:r>
              <a:rPr sz="1200" b="0" dirty="0">
                <a:solidFill>
                  <a:srgbClr val="2D3741"/>
                </a:solidFill>
                <a:latin typeface="Aptos"/>
              </a:rPr>
              <a:t> handling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566160"/>
            <a:ext cx="342900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29600" y="3566160"/>
            <a:ext cx="73152" cy="1691640"/>
          </a:xfrm>
          <a:prstGeom prst="rect">
            <a:avLst/>
          </a:prstGeom>
          <a:solidFill>
            <a:srgbClr val="CD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58200" y="3767328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0C2646"/>
                </a:solidFill>
                <a:latin typeface="Aptos"/>
              </a:rPr>
              <a:t>LEADERBOARD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4279392"/>
            <a:ext cx="3017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D3741"/>
                </a:solidFill>
                <a:latin typeface="Aptos"/>
              </a:rPr>
              <a:t>Monthly visibility for top performers</a:t>
            </a: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29800" y="123971"/>
            <a:ext cx="2057400" cy="45773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6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90-DAY IMPLEMENTATION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554480"/>
            <a:ext cx="2606040" cy="4160520"/>
          </a:xfrm>
          <a:prstGeom prst="roundRect">
            <a:avLst/>
          </a:prstGeom>
          <a:solidFill>
            <a:srgbClr val="1F6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77440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DAYS 1–15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063240"/>
            <a:ext cx="2057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ptos"/>
              </a:rPr>
              <a:t>Build the foundation
• Rules
• Partner IDs
• Service list
• Lead process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554480"/>
            <a:ext cx="2606040" cy="4160520"/>
          </a:xfrm>
          <a:prstGeom prst="roundRect">
            <a:avLst/>
          </a:prstGeom>
          <a:solidFill>
            <a:srgbClr val="239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0" y="1874519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PHASE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377440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DAYS 16–30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3063240"/>
            <a:ext cx="2057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ptos"/>
              </a:rPr>
              <a:t>Launch promotion network
• Recruit first partners
• WhatsApp community
• Ready marketing kit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554480"/>
            <a:ext cx="2606040" cy="4160520"/>
          </a:xfrm>
          <a:prstGeom prst="roundRect">
            <a:avLst/>
          </a:prstGeom>
          <a:solidFill>
            <a:srgbClr val="F0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1874519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PHASE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377440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DAYS 31–60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063240"/>
            <a:ext cx="2057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ptos"/>
              </a:rPr>
              <a:t>Track &amp; improve
• Lead records
• Commission process
• Training
• Monthly challenge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1554480"/>
            <a:ext cx="2606040" cy="4160520"/>
          </a:xfrm>
          <a:prstGeom prst="roundRect">
            <a:avLst/>
          </a:prstGeom>
          <a:solidFill>
            <a:srgbClr val="32B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18319" y="1874519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PHASE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19" y="2377440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DAYS 61–90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3063240"/>
            <a:ext cx="2057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ptos"/>
              </a:rPr>
              <a:t>Scale the system
• District expansion
• Leaderboard
• Top partner rewards
• Dashboard planning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29800" y="123971"/>
            <a:ext cx="2057400" cy="45773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6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4445" y="822960"/>
            <a:ext cx="7144072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700" b="1" dirty="0">
                <a:solidFill>
                  <a:srgbClr val="FFFFFF"/>
                </a:solidFill>
                <a:latin typeface="Aptos"/>
              </a:rPr>
              <a:t>THE COMPLETE E CAFE HIMACHAL </a:t>
            </a:r>
            <a:r>
              <a:rPr lang="en-US" sz="2700" b="1" dirty="0">
                <a:solidFill>
                  <a:srgbClr val="FFFFFF"/>
                </a:solidFill>
                <a:latin typeface="Aptos"/>
              </a:rPr>
              <a:t>PARTNER</a:t>
            </a:r>
            <a:endParaRPr sz="27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32B4D2"/>
                </a:solidFill>
                <a:latin typeface="Aptos"/>
              </a:rPr>
              <a:t>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73736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Authorized Service Partner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50591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32B4D2"/>
                </a:solidFill>
                <a:latin typeface="Aptos"/>
              </a:rPr>
              <a:t>PROMOTE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450591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Business Promotion Partner 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63824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32B4D2"/>
                </a:solidFill>
                <a:latin typeface="Aptos"/>
              </a:rPr>
              <a:t>CONNECT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163824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Customers with Core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77056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32B4D2"/>
                </a:solidFill>
                <a:latin typeface="Aptos"/>
              </a:rPr>
              <a:t>DELIVER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877056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Professional Service 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90288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32B4D2"/>
                </a:solidFill>
                <a:latin typeface="Aptos"/>
              </a:rPr>
              <a:t>EARN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4590288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Commission &amp; Business Growth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0644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23915A"/>
                </a:solidFill>
                <a:latin typeface="Aptos"/>
              </a:rPr>
              <a:t>E CAFE HIMACHAL — BUILD • PROMOTE • CONNECT • GROW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29800" y="123971"/>
            <a:ext cx="2057400" cy="4577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774</Words>
  <Application>Microsoft Office PowerPoint</Application>
  <PresentationFormat>Widescreen</PresentationFormat>
  <Paragraphs>171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 Cafe</cp:lastModifiedBy>
  <cp:revision>2</cp:revision>
  <dcterms:created xsi:type="dcterms:W3CDTF">2013-01-27T09:14:16Z</dcterms:created>
  <dcterms:modified xsi:type="dcterms:W3CDTF">2026-09-12T22:19:56Z</dcterms:modified>
  <cp:category/>
</cp:coreProperties>
</file>